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93473" r:id="rId4"/>
    <p:sldMasterId id="2147493497" r:id="rId5"/>
  </p:sldMasterIdLst>
  <p:notesMasterIdLst>
    <p:notesMasterId r:id="rId27"/>
  </p:notesMasterIdLst>
  <p:sldIdLst>
    <p:sldId id="329" r:id="rId6"/>
    <p:sldId id="453" r:id="rId7"/>
    <p:sldId id="495" r:id="rId8"/>
    <p:sldId id="517" r:id="rId9"/>
    <p:sldId id="521" r:id="rId10"/>
    <p:sldId id="525" r:id="rId11"/>
    <p:sldId id="522" r:id="rId12"/>
    <p:sldId id="524" r:id="rId13"/>
    <p:sldId id="523" r:id="rId14"/>
    <p:sldId id="532" r:id="rId15"/>
    <p:sldId id="497" r:id="rId16"/>
    <p:sldId id="518" r:id="rId17"/>
    <p:sldId id="519" r:id="rId18"/>
    <p:sldId id="520" r:id="rId19"/>
    <p:sldId id="527" r:id="rId20"/>
    <p:sldId id="528" r:id="rId21"/>
    <p:sldId id="529" r:id="rId22"/>
    <p:sldId id="530" r:id="rId23"/>
    <p:sldId id="536" r:id="rId24"/>
    <p:sldId id="538" r:id="rId25"/>
    <p:sldId id="327" r:id="rId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" initials="D" lastIdx="1" clrIdx="0">
    <p:extLst>
      <p:ext uri="{19B8F6BF-5375-455C-9EA6-DF929625EA0E}">
        <p15:presenceInfo xmlns:p15="http://schemas.microsoft.com/office/powerpoint/2012/main" userId="D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D0"/>
    <a:srgbClr val="FF6600"/>
    <a:srgbClr val="6969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437" autoAdjust="0"/>
  </p:normalViewPr>
  <p:slideViewPr>
    <p:cSldViewPr snapToGrid="0" snapToObjects="1">
      <p:cViewPr>
        <p:scale>
          <a:sx n="75" d="100"/>
          <a:sy n="75" d="100"/>
        </p:scale>
        <p:origin x="24" y="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96" d="100"/>
        <a:sy n="39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D823C-E2D9-4391-A6AB-6F9129B7CBC9}" type="datetimeFigureOut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530DD-5851-4E95-AA59-124A48AD34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95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439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4034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857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622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2068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530DD-5851-4E95-AA59-124A48AD34D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4844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62C6B1BE-DA6F-4D18-9578-3964225CA8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233" y="2384757"/>
            <a:ext cx="6215738" cy="5205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簡報主題</a:t>
            </a: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EE3FC0AF-0FBD-4372-9D37-F2ACF61EBA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3233" y="3237349"/>
            <a:ext cx="5109409" cy="2646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簡報者</a:t>
            </a:r>
          </a:p>
        </p:txBody>
      </p:sp>
    </p:spTree>
    <p:extLst>
      <p:ext uri="{BB962C8B-B14F-4D97-AF65-F5344CB8AC3E}">
        <p14:creationId xmlns:p14="http://schemas.microsoft.com/office/powerpoint/2010/main" val="980201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ne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616" y="1153875"/>
            <a:ext cx="5871397" cy="53912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l">
              <a:buNone/>
              <a:defRPr sz="4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28616" y="2330340"/>
            <a:ext cx="5871397" cy="165704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457200" indent="-457200" algn="l">
              <a:buFontTx/>
              <a:buBlip>
                <a:blip r:embed="rId2"/>
              </a:buBlip>
              <a:defRPr sz="28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議題一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5263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20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7893843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2" name="圖片 1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75E9D724-02C5-B9FB-D79D-714811FB05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1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93D7B7C-8A25-84B8-D29E-656E5C988D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7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3801741" cy="3528719"/>
          </a:xfrm>
          <a:prstGeom prst="rect">
            <a:avLst/>
          </a:prstGeom>
        </p:spPr>
        <p:txBody>
          <a:bodyPr/>
          <a:lstStyle>
            <a:lvl1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32659" y="1076528"/>
            <a:ext cx="3801741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3" name="圖片 2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221FE48F-31BB-3D53-E619-3F7E2D5DF1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9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D471400-9413-A9D8-71E3-94E73DAF0B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10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7885816" cy="168915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1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102" y="2928240"/>
            <a:ext cx="7885816" cy="168915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3" name="圖片 2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A2886F82-F2CE-1D8B-1C6A-F231228856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0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6FCD27F-BC4D-EA31-19FC-8C2F53A87B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8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2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4757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3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28412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3" name="圖片 2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2408FCA2-81D2-A5EF-0EDE-C3CB8A9E4A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48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3C78904-AD9F-5A75-DE73-F60C92E74F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pic>
        <p:nvPicPr>
          <p:cNvPr id="3" name="圖片 2" descr="一張含有 螢幕擷取畫面, 圖形, 平面設計, 設計 的圖片&#10;&#10;自動產生的描述">
            <a:extLst>
              <a:ext uri="{FF2B5EF4-FFF2-40B4-BE49-F238E27FC236}">
                <a16:creationId xmlns:a16="http://schemas.microsoft.com/office/drawing/2014/main" id="{90724B71-75D2-D837-BACE-A3314CED65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904" y="160489"/>
            <a:ext cx="1126430" cy="40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6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7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20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7893843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00859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93D7B7C-8A25-84B8-D29E-656E5C988D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7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3801741" cy="3528719"/>
          </a:xfrm>
          <a:prstGeom prst="rect">
            <a:avLst/>
          </a:prstGeom>
        </p:spPr>
        <p:txBody>
          <a:bodyPr/>
          <a:lstStyle>
            <a:lvl1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algn="l"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32659" y="1076528"/>
            <a:ext cx="3801741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089090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D471400-9413-A9D8-71E3-94E73DAF0B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10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7885816" cy="168915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1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102" y="2928240"/>
            <a:ext cx="7885816" cy="168915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961784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6FCD27F-BC4D-EA31-19FC-8C2F53A87B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A9437281-157C-46B0-935F-C586A8ECB2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102" y="291678"/>
            <a:ext cx="5109409" cy="53912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8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102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2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4757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3" name="內容版面配置區 19">
            <a:extLst>
              <a:ext uri="{FF2B5EF4-FFF2-40B4-BE49-F238E27FC236}">
                <a16:creationId xmlns:a16="http://schemas.microsoft.com/office/drawing/2014/main" id="{7747BFB1-88D2-48CC-992F-08A54BA06A3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28412" y="1076528"/>
            <a:ext cx="2294485" cy="352871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228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3C78904-AD9F-5A75-DE73-F60C92E74F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36319"/>
            <a:ext cx="9144000" cy="307181"/>
          </a:xfrm>
          <a:prstGeom prst="rect">
            <a:avLst/>
          </a:prstGeom>
        </p:spPr>
      </p:pic>
      <p:sp>
        <p:nvSpPr>
          <p:cNvPr id="14" name="投影片編號版面配置區 4">
            <a:extLst>
              <a:ext uri="{FF2B5EF4-FFF2-40B4-BE49-F238E27FC236}">
                <a16:creationId xmlns:a16="http://schemas.microsoft.com/office/drawing/2014/main" id="{86FF2DB7-0E33-40C7-858D-B68FBFA55B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720" y="4855464"/>
            <a:ext cx="470005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kern="1200">
                <a:solidFill>
                  <a:srgbClr val="69696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A23C4-5B59-48EB-9166-D95BA49D025A}" type="slidenum">
              <a:rPr lang="zh-TW" alt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057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47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74" r:id="rId1"/>
    <p:sldLayoutId id="2147493488" r:id="rId2"/>
    <p:sldLayoutId id="2147493485" r:id="rId3"/>
    <p:sldLayoutId id="2147493493" r:id="rId4"/>
    <p:sldLayoutId id="2147493494" r:id="rId5"/>
    <p:sldLayoutId id="2147493495" r:id="rId6"/>
    <p:sldLayoutId id="2147493496" r:id="rId7"/>
    <p:sldLayoutId id="2147493482" r:id="rId8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56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500" r:id="rId1"/>
    <p:sldLayoutId id="2147493501" r:id="rId2"/>
    <p:sldLayoutId id="2147493502" r:id="rId3"/>
    <p:sldLayoutId id="2147493503" r:id="rId4"/>
    <p:sldLayoutId id="2147493504" r:id="rId5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B9D362-3371-D87A-1270-0F664A80A102}"/>
              </a:ext>
            </a:extLst>
          </p:cNvPr>
          <p:cNvSpPr txBox="1">
            <a:spLocks/>
          </p:cNvSpPr>
          <p:nvPr/>
        </p:nvSpPr>
        <p:spPr>
          <a:xfrm>
            <a:off x="358950" y="1384432"/>
            <a:ext cx="8353426" cy="9753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800" dirty="0">
                <a:solidFill>
                  <a:srgbClr val="0000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Mobility Drive Test</a:t>
            </a:r>
            <a:endParaRPr lang="zh-TW" altLang="en-US" sz="4800" dirty="0">
              <a:solidFill>
                <a:srgbClr val="0000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6D2010C-E9E1-7BFE-0198-EDC1D9FA9F47}"/>
              </a:ext>
            </a:extLst>
          </p:cNvPr>
          <p:cNvSpPr txBox="1">
            <a:spLocks/>
          </p:cNvSpPr>
          <p:nvPr/>
        </p:nvSpPr>
        <p:spPr>
          <a:xfrm>
            <a:off x="431623" y="2730783"/>
            <a:ext cx="8280753" cy="215991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"/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Test Type : Mobility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Test</a:t>
            </a:r>
          </a:p>
          <a:p>
            <a:pPr fontAlgn="b"/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Region : SEO</a:t>
            </a:r>
          </a:p>
          <a:p>
            <a:pPr fontAlgn="b"/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Area :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美濃區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fontAlgn="b"/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DT Completion Date (YYYY/MM/DD) : 2026/7/29</a:t>
            </a:r>
          </a:p>
          <a:p>
            <a:pPr fontAlgn="b"/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Total kilometers :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40.43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km</a:t>
            </a:r>
          </a:p>
        </p:txBody>
      </p:sp>
    </p:spTree>
    <p:extLst>
      <p:ext uri="{BB962C8B-B14F-4D97-AF65-F5344CB8AC3E}">
        <p14:creationId xmlns:p14="http://schemas.microsoft.com/office/powerpoint/2010/main" val="394390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CAA4D047-9061-C0F9-4F99-5FC16AAE5AA3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DT Route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244977-F41F-39E0-BE07-68025C955D8D}"/>
              </a:ext>
            </a:extLst>
          </p:cNvPr>
          <p:cNvSpPr/>
          <p:nvPr/>
        </p:nvSpPr>
        <p:spPr>
          <a:xfrm rot="1420914">
            <a:off x="4764777" y="777405"/>
            <a:ext cx="45719" cy="124340"/>
          </a:xfrm>
          <a:prstGeom prst="rect">
            <a:avLst/>
          </a:prstGeom>
          <a:solidFill>
            <a:srgbClr val="FFF4D0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4962624-85EA-2C63-650A-D94B54DEC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583" y="839575"/>
            <a:ext cx="5563376" cy="36771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2413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8A23C4-5B59-48EB-9166-D95BA49D025A}" type="slidenum">
              <a:rPr lang="zh-TW" altLang="en-US" smtClean="0"/>
              <a:pPr/>
              <a:t>2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CAA4D047-9061-C0F9-4F99-5FC16AAE5AA3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DT Test Summary Result</a:t>
            </a:r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2B3101BE-F00E-5E5B-4311-DCA13CCBC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194609"/>
              </p:ext>
            </p:extLst>
          </p:nvPr>
        </p:nvGraphicFramePr>
        <p:xfrm>
          <a:off x="301504" y="647701"/>
          <a:ext cx="4130056" cy="4015738"/>
        </p:xfrm>
        <a:graphic>
          <a:graphicData uri="http://schemas.openxmlformats.org/drawingml/2006/table">
            <a:tbl>
              <a:tblPr firstRow="1" bandRow="1"/>
              <a:tblGrid>
                <a:gridCol w="907068">
                  <a:extLst>
                    <a:ext uri="{9D8B030D-6E8A-4147-A177-3AD203B41FA5}">
                      <a16:colId xmlns:a16="http://schemas.microsoft.com/office/drawing/2014/main" val="3995704773"/>
                    </a:ext>
                  </a:extLst>
                </a:gridCol>
                <a:gridCol w="1937754">
                  <a:extLst>
                    <a:ext uri="{9D8B030D-6E8A-4147-A177-3AD203B41FA5}">
                      <a16:colId xmlns:a16="http://schemas.microsoft.com/office/drawing/2014/main" val="2690939050"/>
                    </a:ext>
                  </a:extLst>
                </a:gridCol>
                <a:gridCol w="1285234">
                  <a:extLst>
                    <a:ext uri="{9D8B030D-6E8A-4147-A177-3AD203B41FA5}">
                      <a16:colId xmlns:a16="http://schemas.microsoft.com/office/drawing/2014/main" val="2348865452"/>
                    </a:ext>
                  </a:extLst>
                </a:gridCol>
              </a:tblGrid>
              <a:tr h="192676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9BC2E6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Test Result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9BC2E6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973338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5G Ratio </a:t>
                      </a:r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(%)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99.6%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97662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NR PCI Count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781883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5G RSRP average (dBm)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-90.6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551502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5G RSRQ average (dB)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-11.0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424774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5G SINR average (dB)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17.1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312534"/>
                  </a:ext>
                </a:extLst>
              </a:tr>
              <a:tr h="224886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5G Modulation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QPSK</a:t>
                      </a:r>
                      <a:r>
                        <a:rPr lang="zh-TW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888086"/>
                  </a:ext>
                </a:extLst>
              </a:tr>
              <a:tr h="224886">
                <a:tc vMerge="1">
                  <a:txBody>
                    <a:bodyPr/>
                    <a:lstStyle/>
                    <a:p>
                      <a:pPr algn="l" rtl="0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16QAM</a:t>
                      </a:r>
                      <a:r>
                        <a:rPr lang="zh-TW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074739"/>
                  </a:ext>
                </a:extLst>
              </a:tr>
              <a:tr h="224886">
                <a:tc vMerge="1">
                  <a:txBody>
                    <a:bodyPr/>
                    <a:lstStyle/>
                    <a:p>
                      <a:pPr algn="l" rtl="0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64QAM</a:t>
                      </a:r>
                      <a:r>
                        <a:rPr lang="zh-TW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946351"/>
                  </a:ext>
                </a:extLst>
              </a:tr>
              <a:tr h="224886">
                <a:tc vMerge="1">
                  <a:txBody>
                    <a:bodyPr/>
                    <a:lstStyle/>
                    <a:p>
                      <a:pPr algn="l" rtl="0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256QAM</a:t>
                      </a:r>
                      <a:r>
                        <a:rPr lang="zh-TW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686828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NR</a:t>
                      </a:r>
                      <a:r>
                        <a:rPr lang="zh-TW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Rank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536710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5G SLOT Usage DL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55.9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522745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5G RB Num DL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190.5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91875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5G TX Power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17.7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69706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5G CQI WB DL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9.5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946190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5G MCS DL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17.0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461996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5G MAC DL TP (Mbps)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258.6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037219"/>
                  </a:ext>
                </a:extLst>
              </a:tr>
              <a:tr h="224886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ENDC Setup SR (%)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100%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8493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7BDE01-263E-896E-91BC-551F6D9F6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599006"/>
              </p:ext>
            </p:extLst>
          </p:nvPr>
        </p:nvGraphicFramePr>
        <p:xfrm>
          <a:off x="4592782" y="647701"/>
          <a:ext cx="4130056" cy="3427622"/>
        </p:xfrm>
        <a:graphic>
          <a:graphicData uri="http://schemas.openxmlformats.org/drawingml/2006/table">
            <a:tbl>
              <a:tblPr firstRow="1" bandRow="1"/>
              <a:tblGrid>
                <a:gridCol w="998508">
                  <a:extLst>
                    <a:ext uri="{9D8B030D-6E8A-4147-A177-3AD203B41FA5}">
                      <a16:colId xmlns:a16="http://schemas.microsoft.com/office/drawing/2014/main" val="3995704773"/>
                    </a:ext>
                  </a:extLst>
                </a:gridCol>
                <a:gridCol w="1846314">
                  <a:extLst>
                    <a:ext uri="{9D8B030D-6E8A-4147-A177-3AD203B41FA5}">
                      <a16:colId xmlns:a16="http://schemas.microsoft.com/office/drawing/2014/main" val="2278250217"/>
                    </a:ext>
                  </a:extLst>
                </a:gridCol>
                <a:gridCol w="1285234">
                  <a:extLst>
                    <a:ext uri="{9D8B030D-6E8A-4147-A177-3AD203B41FA5}">
                      <a16:colId xmlns:a16="http://schemas.microsoft.com/office/drawing/2014/main" val="2348865452"/>
                    </a:ext>
                  </a:extLst>
                </a:gridCol>
              </a:tblGrid>
              <a:tr h="20500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9BC2E6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Test Result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9BC2E6"/>
                          </a:highlight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FET (Lock 1800)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973338"/>
                  </a:ext>
                </a:extLst>
              </a:tr>
              <a:tr h="23068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LTE PCI Count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888086"/>
                  </a:ext>
                </a:extLst>
              </a:tr>
              <a:tr h="23068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4G RSRP average (dBm)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-89.9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070695"/>
                  </a:ext>
                </a:extLst>
              </a:tr>
              <a:tr h="23068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4G RSRQ average (dB)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-11.0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254261"/>
                  </a:ext>
                </a:extLst>
              </a:tr>
              <a:tr h="23068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4G SINR average (dB)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11.7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462782"/>
                  </a:ext>
                </a:extLst>
              </a:tr>
              <a:tr h="230681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4G CQI WB DL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9.3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075000"/>
                  </a:ext>
                </a:extLst>
              </a:tr>
              <a:tr h="230681">
                <a:tc rowSpan="4"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LTE  Carrier  Num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2CA (%)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01479"/>
                  </a:ext>
                </a:extLst>
              </a:tr>
              <a:tr h="2306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3CA (%)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026729"/>
                  </a:ext>
                </a:extLst>
              </a:tr>
              <a:tr h="23068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4CA (%)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87118"/>
                  </a:ext>
                </a:extLst>
              </a:tr>
              <a:tr h="23068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5CA (%)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312650"/>
                  </a:ext>
                </a:extLst>
              </a:tr>
              <a:tr h="230681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4G Modulation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857524"/>
                  </a:ext>
                </a:extLst>
              </a:tr>
              <a:tr h="22376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4G RB Num DL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82.4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91875"/>
                  </a:ext>
                </a:extLst>
              </a:tr>
              <a:tr h="23068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4G TX Power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69706"/>
                  </a:ext>
                </a:extLst>
              </a:tr>
              <a:tr h="23068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4G MAC DL TP (Mbps)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41.1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037219"/>
                  </a:ext>
                </a:extLst>
              </a:tr>
              <a:tr h="23068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 Throughput DL average (Mbps)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308.1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964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9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30E23E8-866A-6AE0-F633-427757B713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8A23C4-5B59-48EB-9166-D95BA49D025A}" type="slidenum">
              <a:rPr lang="zh-TW" altLang="en-US" smtClean="0"/>
              <a:pPr/>
              <a:t>3</a:t>
            </a:fld>
            <a:endParaRPr lang="en-US" dirty="0"/>
          </a:p>
        </p:txBody>
      </p:sp>
      <p:sp>
        <p:nvSpPr>
          <p:cNvPr id="5" name="文字版面配置區 3">
            <a:extLst>
              <a:ext uri="{FF2B5EF4-FFF2-40B4-BE49-F238E27FC236}">
                <a16:creationId xmlns:a16="http://schemas.microsoft.com/office/drawing/2014/main" id="{4F6165D4-4E8B-A6F5-0480-46426D3E6D21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NR </a:t>
            </a:r>
            <a:r>
              <a:rPr lang="en-US" altLang="zh-TW" sz="2000" u="sng" dirty="0" err="1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NonCA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&amp; NR CA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7851DA73-8A7A-EF1B-D625-C4F8C1B9C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75771"/>
              </p:ext>
            </p:extLst>
          </p:nvPr>
        </p:nvGraphicFramePr>
        <p:xfrm>
          <a:off x="2373218" y="731210"/>
          <a:ext cx="3753129" cy="3309399"/>
        </p:xfrm>
        <a:graphic>
          <a:graphicData uri="http://schemas.openxmlformats.org/drawingml/2006/table">
            <a:tbl>
              <a:tblPr firstRow="1" bandRow="1"/>
              <a:tblGrid>
                <a:gridCol w="649502">
                  <a:extLst>
                    <a:ext uri="{9D8B030D-6E8A-4147-A177-3AD203B41FA5}">
                      <a16:colId xmlns:a16="http://schemas.microsoft.com/office/drawing/2014/main" val="3995704773"/>
                    </a:ext>
                  </a:extLst>
                </a:gridCol>
                <a:gridCol w="855261">
                  <a:extLst>
                    <a:ext uri="{9D8B030D-6E8A-4147-A177-3AD203B41FA5}">
                      <a16:colId xmlns:a16="http://schemas.microsoft.com/office/drawing/2014/main" val="3657261267"/>
                    </a:ext>
                  </a:extLst>
                </a:gridCol>
                <a:gridCol w="1054594">
                  <a:extLst>
                    <a:ext uri="{9D8B030D-6E8A-4147-A177-3AD203B41FA5}">
                      <a16:colId xmlns:a16="http://schemas.microsoft.com/office/drawing/2014/main" val="2348865452"/>
                    </a:ext>
                  </a:extLst>
                </a:gridCol>
                <a:gridCol w="596886">
                  <a:extLst>
                    <a:ext uri="{9D8B030D-6E8A-4147-A177-3AD203B41FA5}">
                      <a16:colId xmlns:a16="http://schemas.microsoft.com/office/drawing/2014/main" val="81635812"/>
                    </a:ext>
                  </a:extLst>
                </a:gridCol>
                <a:gridCol w="596886">
                  <a:extLst>
                    <a:ext uri="{9D8B030D-6E8A-4147-A177-3AD203B41FA5}">
                      <a16:colId xmlns:a16="http://schemas.microsoft.com/office/drawing/2014/main" val="776985825"/>
                    </a:ext>
                  </a:extLst>
                </a:gridCol>
              </a:tblGrid>
              <a:tr h="336628">
                <a:tc rowSpan="3"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Object1.0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40973338"/>
                  </a:ext>
                </a:extLst>
              </a:tr>
              <a:tr h="232256">
                <a:tc gridSpan="2" vMerge="1"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9BC2E6"/>
                        </a:highlight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Non-NR CA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NR CA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77413661"/>
                  </a:ext>
                </a:extLst>
              </a:tr>
              <a:tr h="251230">
                <a:tc gridSpan="2" vMerge="1"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Pcell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Pcell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Scell</a:t>
                      </a:r>
                      <a:endParaRPr lang="zh-TW" altLang="en-US" dirty="0"/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97662"/>
                  </a:ext>
                </a:extLst>
              </a:tr>
              <a:tr h="395865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組合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Band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NR35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NR35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ESS 700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424774"/>
                  </a:ext>
                </a:extLst>
              </a:tr>
              <a:tr h="314960">
                <a:tc vMerge="1"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DL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Thp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254.9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241.4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17.5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312534"/>
                  </a:ext>
                </a:extLst>
              </a:tr>
              <a:tr h="33108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257.0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828040"/>
                  </a:ext>
                </a:extLst>
              </a:tr>
              <a:tr h="349131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組合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28.8%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70.8%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471655"/>
                  </a:ext>
                </a:extLst>
              </a:tr>
              <a:tr h="331689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組合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altLang="en-US" sz="1200"/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Band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ESS 700 </a:t>
                      </a:r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(20M)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049541"/>
                  </a:ext>
                </a:extLst>
              </a:tr>
              <a:tr h="516591">
                <a:tc vMerge="1"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DL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Thp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0.0 </a:t>
                      </a:r>
                      <a:endParaRPr lang="zh-TW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rtl="0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630431"/>
                  </a:ext>
                </a:extLst>
              </a:tr>
              <a:tr h="249965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0.0%</a:t>
                      </a:r>
                      <a:endParaRPr lang="zh-TW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267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66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34E07-1597-12CE-6218-9FB59FA31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B74F463D-8B54-4ADA-8FC4-EE948E045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89" y="763488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6F36B23-DBC6-D615-1053-2F099473748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4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8CC0628C-F30F-45F9-1BB9-3D05B2F012E6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Technology Mode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D6F25F7-E694-3558-5B3D-2BBCB4DDFF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98" t="38235" r="14300" b="20725"/>
          <a:stretch>
            <a:fillRect/>
          </a:stretch>
        </p:blipFill>
        <p:spPr>
          <a:xfrm>
            <a:off x="6024950" y="4230973"/>
            <a:ext cx="1304364" cy="3361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5544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973BA-BE20-9AE9-2EE8-F0735EE49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C57E3D6-4A6A-7E2F-E87C-81448794E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89" y="763488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63C4B6A-D698-5304-1395-E88A85D7EBC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5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B2B8AAA1-3A93-E14F-7388-AA68858A27ED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5G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RSRP Comparison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F5AD0C-D914-3D04-35DF-B46ADE6E8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0" t="15853" r="7633" b="8699"/>
          <a:stretch>
            <a:fillRect/>
          </a:stretch>
        </p:blipFill>
        <p:spPr>
          <a:xfrm>
            <a:off x="6057900" y="3508502"/>
            <a:ext cx="1270000" cy="10522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856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B5B89-C1DD-1278-DA73-3EAABB48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C6F8E6D-CB33-9C6B-E22A-A3BEA1C81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89" y="763488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FDF8698-8AE0-3DB1-59E0-77408732605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6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D61DCB95-AA30-55E6-BF30-D23C04FC095F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5G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SINR Comparison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024A091-1BD3-0D5C-6B10-577BAFE6CF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70" t="18421" r="7606" b="11404"/>
          <a:stretch>
            <a:fillRect/>
          </a:stretch>
        </p:blipFill>
        <p:spPr>
          <a:xfrm>
            <a:off x="5910226" y="3556000"/>
            <a:ext cx="1419262" cy="10047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206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4E096-EA0C-3587-942E-8D2CD675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9BB3E77-DD3B-DB44-18E3-53CF8E771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589" y="763488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CBFE346-6BEC-C532-72DF-9BC8D2B8CFD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7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6C7A5E20-A318-831C-EA8A-AF5F22B5573D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5G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CA Configuration Ratio</a:t>
            </a:r>
          </a:p>
          <a:p>
            <a:pPr fontAlgn="t"/>
            <a:endParaRPr lang="en-US" altLang="zh-TW" sz="2000" u="sng" dirty="0">
              <a:solidFill>
                <a:srgbClr val="3333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7251317-96D3-157A-43E5-3CCC1B7682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56" t="29935" r="50000" b="33819"/>
          <a:stretch>
            <a:fillRect/>
          </a:stretch>
        </p:blipFill>
        <p:spPr>
          <a:xfrm>
            <a:off x="6453013" y="4198836"/>
            <a:ext cx="876301" cy="355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9081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E1BA4-92A5-53CE-2889-75D80740B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D6F3F85-DCEF-9D9A-8750-6FAF974E9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589" y="763488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BF30BE-AE21-37E9-E28D-AB97234F80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8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834C0BCB-8CC6-847C-145C-B09AC3BAA5BE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5G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MAC DL Throughput Map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EE83028-4B7B-FA90-0300-3F1E030107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47" t="16504" r="6441" b="11301"/>
          <a:stretch>
            <a:fillRect/>
          </a:stretch>
        </p:blipFill>
        <p:spPr>
          <a:xfrm>
            <a:off x="5867400" y="3591206"/>
            <a:ext cx="1458739" cy="9695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5469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991A6-0CB7-D02D-95F6-A3917117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0B45C8F-1930-39FB-CF35-BD1D3D17A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89" y="765797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B124255-1D4C-72EB-34D1-C27DFB97B39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9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EC1FF649-D475-9AE2-8EB0-B7C88CCC7CEA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ENDC Setup and Fail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96D6C6F-883B-F1B8-15D0-79883CEDE8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03" t="9103" r="6878" b="20308"/>
          <a:stretch>
            <a:fillRect/>
          </a:stretch>
        </p:blipFill>
        <p:spPr>
          <a:xfrm>
            <a:off x="5499100" y="3923016"/>
            <a:ext cx="1828800" cy="6400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592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C8B7CDD-DDD2-3F4A-05E0-D0C6312E1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89" y="763488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10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CAA4D047-9061-C0F9-4F99-5FC16AAE5AA3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4G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RSRP Comparison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(L700/L900)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C752B16-9CD2-945A-650A-1D1ED51F6A5E}"/>
              </a:ext>
            </a:extLst>
          </p:cNvPr>
          <p:cNvSpPr txBox="1"/>
          <p:nvPr/>
        </p:nvSpPr>
        <p:spPr>
          <a:xfrm>
            <a:off x="3933844" y="2492968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Lock 1800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8204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563A7-0D6E-684B-3FB9-8AF09BF0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8887144-2FA1-7839-DF07-A04E27FCB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589" y="763488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2BD5913-7556-5466-7493-763338D1CD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11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70976603-FD98-D4C4-C4EC-D0F952D21B26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4G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RSRP Comparison (L1800)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en-US" altLang="zh-TW" sz="2000" u="sng" dirty="0">
              <a:solidFill>
                <a:srgbClr val="3333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5A17F42-AD57-23EF-E87C-DA366EB363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41" t="15854" r="24748" b="9350"/>
          <a:stretch>
            <a:fillRect/>
          </a:stretch>
        </p:blipFill>
        <p:spPr>
          <a:xfrm>
            <a:off x="5905499" y="3402110"/>
            <a:ext cx="1420639" cy="11586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68175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11455-0E02-CE55-DB0F-5C185E871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E7151CA-AF76-1B23-34A6-BF2FD296B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589" y="759934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F8D0E00-5EAC-7104-CDCA-72082A6881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12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AD8E3085-6161-5CCB-1D4C-8C16AC4E20CC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4G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RSRP Comparison (L2100)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en-US" altLang="zh-TW" sz="2000" u="sng" dirty="0">
              <a:solidFill>
                <a:srgbClr val="3333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28C7B55-DA05-5FA8-867F-520A6EF3D0D6}"/>
              </a:ext>
            </a:extLst>
          </p:cNvPr>
          <p:cNvSpPr txBox="1"/>
          <p:nvPr/>
        </p:nvSpPr>
        <p:spPr>
          <a:xfrm>
            <a:off x="3933844" y="2492968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Lock 1800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0332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5F2F-42BA-1C29-B4EB-142769E9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F85C667-7EE8-D9C7-952C-1CB27E91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89" y="759934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4C60DB0-018E-ADB3-6320-5370A11E7A4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13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2F4B310D-305A-966D-AE9B-FCEBC9DFEAC0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4G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RSRP Comparison (L2600)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en-US" altLang="zh-TW" sz="2000" u="sng" dirty="0">
              <a:solidFill>
                <a:srgbClr val="3333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1EB97DE-1430-8078-2859-003A23D130FF}"/>
              </a:ext>
            </a:extLst>
          </p:cNvPr>
          <p:cNvSpPr txBox="1"/>
          <p:nvPr/>
        </p:nvSpPr>
        <p:spPr>
          <a:xfrm>
            <a:off x="3933844" y="2492968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Lock 1800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3415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0CC4-7340-0407-C2F6-3F4A1BAFA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D3D87F2-A2C3-CDD5-7121-C43549855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89" y="757138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949109C-B86D-96ED-31E4-B49A9031D1D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14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477FDA75-53D8-D2CC-F859-8DD5A0A7653A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4G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SINR Comparison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06B250D-7237-D23E-568A-993828960B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6" t="20130" r="6923" b="10606"/>
          <a:stretch>
            <a:fillRect/>
          </a:stretch>
        </p:blipFill>
        <p:spPr>
          <a:xfrm>
            <a:off x="5700538" y="3538438"/>
            <a:ext cx="1625601" cy="1016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3676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0440D-90DA-23DD-A8AC-1F4D9433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DBF7886-EFE8-B731-D136-3973C1257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89" y="762243"/>
            <a:ext cx="5810250" cy="3810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CA30FB80-CAEF-2D8F-9E0B-16790EF96B04}"/>
              </a:ext>
            </a:extLst>
          </p:cNvPr>
          <p:cNvSpPr txBox="1"/>
          <p:nvPr/>
        </p:nvSpPr>
        <p:spPr>
          <a:xfrm>
            <a:off x="3933844" y="2492968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Lock 1800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72987CF-6806-171A-B23A-C8FF7CC955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15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66A3DD07-135A-9413-EE27-B50DB8D7FC71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4G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CA Configuration Ratio</a:t>
            </a:r>
          </a:p>
          <a:p>
            <a:pPr fontAlgn="t"/>
            <a:endParaRPr lang="en-US" altLang="zh-TW" sz="2000" u="sng" dirty="0">
              <a:solidFill>
                <a:srgbClr val="3333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615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A957B-23F3-46C9-D4CB-4D591A3F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DA792F7-B0FC-7BC7-6AB8-A32927FEC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89" y="763488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5D9D782-FA65-959F-179B-6C7C9833D9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16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DB56F56A-4848-D725-61A6-9390E14F3F88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4G</a:t>
            </a:r>
            <a:r>
              <a:rPr lang="zh-TW" altLang="en-US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MAC DL Throughput Map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1C75AD7-E835-1149-072C-7BB59A0391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20" t="15854" r="10881" b="11301"/>
          <a:stretch>
            <a:fillRect/>
          </a:stretch>
        </p:blipFill>
        <p:spPr>
          <a:xfrm>
            <a:off x="5765799" y="3418578"/>
            <a:ext cx="1560339" cy="11422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4773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F3418-4145-E66E-4294-ACB23BFA4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8FD3165-930E-5856-7ECD-C2C7E6010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89" y="763488"/>
            <a:ext cx="5810250" cy="38100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EEE8831-F2F3-A793-67D9-7604FA5552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8468" y="4846838"/>
            <a:ext cx="470005" cy="274637"/>
          </a:xfrm>
        </p:spPr>
        <p:txBody>
          <a:bodyPr/>
          <a:lstStyle/>
          <a:p>
            <a:fld id="{9C8A23C4-5B59-48EB-9166-D95BA49D025A}" type="slidenum">
              <a:rPr lang="zh-TW" altLang="en-US" smtClean="0"/>
              <a:pPr/>
              <a:t>17</a:t>
            </a:fld>
            <a:endParaRPr lang="en-US" dirty="0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57AA7210-DFC3-F572-A907-767B364F544D}"/>
              </a:ext>
            </a:extLst>
          </p:cNvPr>
          <p:cNvSpPr txBox="1">
            <a:spLocks/>
          </p:cNvSpPr>
          <p:nvPr/>
        </p:nvSpPr>
        <p:spPr>
          <a:xfrm>
            <a:off x="904937" y="156772"/>
            <a:ext cx="6689693" cy="37427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lang="zh-TW" altLang="en-US" sz="750" kern="1200" smtClean="0">
                <a:solidFill>
                  <a:schemeClr val="bg1"/>
                </a:solidFill>
                <a:latin typeface="文鼎黑體B" panose="020B0800000000000000" pitchFamily="34" charset="-120"/>
                <a:ea typeface="文鼎黑體B" panose="020B0800000000000000" pitchFamily="34" charset="-120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zh-TW" sz="2000" u="sng" dirty="0">
                <a:solidFill>
                  <a:srgbClr val="3333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App DL Throughput Map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515711C-103D-EF27-5937-12908CB4C8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16" t="13902" r="7503" b="8700"/>
          <a:stretch>
            <a:fillRect/>
          </a:stretch>
        </p:blipFill>
        <p:spPr>
          <a:xfrm>
            <a:off x="5829300" y="3487752"/>
            <a:ext cx="1496839" cy="10730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5620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21EE881-F272-4C34-6406-79F03D9FA3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8A23C4-5B59-48EB-9166-D95BA49D025A}" type="slidenum">
              <a:rPr lang="zh-TW" altLang="en-US" smtClean="0"/>
              <a:pPr/>
              <a:t>18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2E90494-BAD0-2373-D80B-6AE51FE0E6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25" y="1832986"/>
            <a:ext cx="7893843" cy="1084781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4400" dirty="0"/>
              <a:t>Problem Areas</a:t>
            </a:r>
            <a:endParaRPr lang="zh-TW" altLang="en-US" sz="4400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3403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E7D23DD-138C-02BA-6723-DCBAF2205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5" y="981075"/>
            <a:ext cx="6191250" cy="363855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7475437-2DFA-95D1-1E5C-915B9A075F5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8A23C4-5B59-48EB-9166-D95BA49D025A}" type="slidenum">
              <a:rPr lang="zh-TW" altLang="en-US" smtClean="0"/>
              <a:pPr/>
              <a:t>19</a:t>
            </a:fld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1658FE-0B0D-8542-8CFC-AF3A15EB69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APP</a:t>
            </a:r>
            <a:r>
              <a:rPr lang="zh-TW" altLang="en-US" dirty="0"/>
              <a:t> </a:t>
            </a:r>
            <a:r>
              <a:rPr lang="en-US" altLang="zh-TW" dirty="0"/>
              <a:t>DL&lt;50Mbps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379BB4F-9B0B-1612-D61E-D9700C710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699" y="3813175"/>
            <a:ext cx="18192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077181"/>
      </p:ext>
    </p:extLst>
  </p:cSld>
  <p:clrMapOvr>
    <a:masterClrMapping/>
  </p:clrMapOvr>
</p:sld>
</file>

<file path=ppt/theme/theme1.xml><?xml version="1.0" encoding="utf-8"?>
<a:theme xmlns:a="http://schemas.openxmlformats.org/drawingml/2006/main" name="logo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>
              <a:lumMod val="50000"/>
              <a:lumOff val="5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>
                <a:lumMod val="50000"/>
                <a:lumOff val="50000"/>
              </a:schemeClr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696969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無logo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>
              <a:lumMod val="50000"/>
              <a:lumOff val="5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>
                <a:lumMod val="50000"/>
                <a:lumOff val="50000"/>
              </a:schemeClr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696969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/field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6546</TotalTime>
  <Words>365</Words>
  <Application>Microsoft Office PowerPoint</Application>
  <PresentationFormat>如螢幕大小 (16:9)</PresentationFormat>
  <Paragraphs>148</Paragraphs>
  <Slides>21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微軟正黑體</vt:lpstr>
      <vt:lpstr>微軟正黑體</vt:lpstr>
      <vt:lpstr>Arial</vt:lpstr>
      <vt:lpstr>Calibri</vt:lpstr>
      <vt:lpstr>logo版</vt:lpstr>
      <vt:lpstr>無logo版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Fang, Rod 方子瑋 (76374)</dc:creator>
  <cp:lastModifiedBy>DO</cp:lastModifiedBy>
  <cp:revision>229</cp:revision>
  <dcterms:created xsi:type="dcterms:W3CDTF">2010-04-12T23:12:02Z</dcterms:created>
  <dcterms:modified xsi:type="dcterms:W3CDTF">2026-07-29T07:22:28Z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